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otham Bold" charset="1" panose="00000000000000000000"/>
      <p:regular r:id="rId20"/>
    </p:embeddedFont>
    <p:embeddedFont>
      <p:font typeface="Gotham Italics" charset="1" panose="00000000000000000000"/>
      <p:regular r:id="rId21"/>
    </p:embeddedFont>
    <p:embeddedFont>
      <p:font typeface="Saira Light" charset="1" panose="00000400000000000000"/>
      <p:regular r:id="rId22"/>
    </p:embeddedFont>
    <p:embeddedFont>
      <p:font typeface="Saira" charset="1" panose="00000500000000000000"/>
      <p:regular r:id="rId23"/>
    </p:embeddedFont>
    <p:embeddedFont>
      <p:font typeface="Saira Bold" charset="1" panose="00000800000000000000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37.png" Type="http://schemas.openxmlformats.org/officeDocument/2006/relationships/image"/><Relationship Id="rId5" Target="https://github.com/Sabix10/Interrogazione_di_contenuti_video_tramite_sistema_RA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5288" y="382538"/>
            <a:ext cx="4548590" cy="1884416"/>
          </a:xfrm>
          <a:custGeom>
            <a:avLst/>
            <a:gdLst/>
            <a:ahLst/>
            <a:cxnLst/>
            <a:rect r="r" b="b" t="t" l="l"/>
            <a:pathLst>
              <a:path h="1884416" w="4548590">
                <a:moveTo>
                  <a:pt x="0" y="0"/>
                </a:moveTo>
                <a:lnTo>
                  <a:pt x="4548591" y="0"/>
                </a:lnTo>
                <a:lnTo>
                  <a:pt x="4548591" y="1884416"/>
                </a:lnTo>
                <a:lnTo>
                  <a:pt x="0" y="1884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5288" y="3483220"/>
            <a:ext cx="11193445" cy="211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1"/>
              </a:lnSpc>
            </a:pPr>
            <a:r>
              <a:rPr lang="en-US" b="true" sz="6012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INTER</a:t>
            </a:r>
            <a:r>
              <a:rPr lang="en-US" b="true" sz="6012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ROGAZIONE DI CONTENUTI VIDEO TRAMITE SISTEMA RAG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288" y="5684667"/>
            <a:ext cx="10220000" cy="59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sz="4509" i="true">
                <a:solidFill>
                  <a:srgbClr val="3C3C3C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Progetto corso di NLP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59589" y="1410626"/>
            <a:ext cx="10855667" cy="7898705"/>
            <a:chOff x="0" y="0"/>
            <a:chExt cx="14474223" cy="10531607"/>
          </a:xfrm>
        </p:grpSpPr>
        <p:sp>
          <p:nvSpPr>
            <p:cNvPr name="Freeform 9" id="9"/>
            <p:cNvSpPr/>
            <p:nvPr/>
          </p:nvSpPr>
          <p:spPr>
            <a:xfrm flipH="false" flipV="false" rot="192863">
              <a:off x="1946102" y="517787"/>
              <a:ext cx="12180163" cy="8266986"/>
            </a:xfrm>
            <a:custGeom>
              <a:avLst/>
              <a:gdLst/>
              <a:ahLst/>
              <a:cxnLst/>
              <a:rect r="r" b="b" t="t" l="l"/>
              <a:pathLst>
                <a:path h="8266986" w="12180163">
                  <a:moveTo>
                    <a:pt x="0" y="0"/>
                  </a:moveTo>
                  <a:lnTo>
                    <a:pt x="12180162" y="0"/>
                  </a:lnTo>
                  <a:lnTo>
                    <a:pt x="12180162" y="8266985"/>
                  </a:lnTo>
                  <a:lnTo>
                    <a:pt x="0" y="8266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983" t="0" r="-24186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159487">
              <a:off x="221819" y="320023"/>
              <a:ext cx="14030584" cy="9891562"/>
            </a:xfrm>
            <a:custGeom>
              <a:avLst/>
              <a:gdLst/>
              <a:ahLst/>
              <a:cxnLst/>
              <a:rect r="r" b="b" t="t" l="l"/>
              <a:pathLst>
                <a:path h="9891562" w="14030584">
                  <a:moveTo>
                    <a:pt x="0" y="0"/>
                  </a:moveTo>
                  <a:lnTo>
                    <a:pt x="14030585" y="0"/>
                  </a:lnTo>
                  <a:lnTo>
                    <a:pt x="14030585" y="9891561"/>
                  </a:lnTo>
                  <a:lnTo>
                    <a:pt x="0" y="9891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Proff. G. Tortora, L. Caruccio - Dott.ssa Elenora Calò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87584" y="9338264"/>
            <a:ext cx="10023156" cy="79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7"/>
              </a:lnSpc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Antonio Di Lauro - 0522501940</a:t>
            </a:r>
          </a:p>
          <a:p>
            <a:pPr algn="r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Sabato Malafronte - 0522501833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Outline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404" y="5039716"/>
            <a:ext cx="9217871" cy="368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Tokenization</a:t>
            </a:r>
          </a:p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Chuncking semantico dinamico</a:t>
            </a:r>
          </a:p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Recupero dinamico dei chunk</a:t>
            </a:r>
          </a:p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Download di LLM open-source</a:t>
            </a:r>
          </a:p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 strike="noStrike" u="none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Esecuzione in locale degli LLM</a:t>
            </a:r>
          </a:p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 strike="noStrike" u="none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Valutazione delle metriche</a:t>
            </a:r>
          </a:p>
          <a:p>
            <a:pPr algn="l" marL="518160" indent="-259080" lvl="1">
              <a:lnSpc>
                <a:spcPts val="4224"/>
              </a:lnSpc>
              <a:buFont typeface="Arial"/>
              <a:buChar char="•"/>
            </a:pPr>
            <a:r>
              <a:rPr lang="en-US" sz="2400" spc="120" strike="noStrike" u="none">
                <a:solidFill>
                  <a:srgbClr val="030603"/>
                </a:solidFill>
                <a:latin typeface="Saira"/>
                <a:ea typeface="Saira"/>
                <a:cs typeface="Saira"/>
                <a:sym typeface="Saira"/>
              </a:rPr>
              <a:t>Realizzazione UI per l’interrogazione dei video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335" y="2504192"/>
            <a:ext cx="16725331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spc="13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In questo progetto è stato realizzato un sistema RAG che consente il recupero della trascrizione di video youtube e interrogazione tramite LLM dei contenuti estratti.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spc="13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In particolare sono stati definiti ed implementati i seguenti punti: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80136" y="2703290"/>
            <a:ext cx="5201071" cy="2974644"/>
            <a:chOff x="0" y="0"/>
            <a:chExt cx="6934762" cy="396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91945" y="1979711"/>
              <a:ext cx="1577375" cy="1577375"/>
            </a:xfrm>
            <a:custGeom>
              <a:avLst/>
              <a:gdLst/>
              <a:ahLst/>
              <a:cxnLst/>
              <a:rect r="r" b="b" t="t" l="l"/>
              <a:pathLst>
                <a:path h="1577375" w="1577375">
                  <a:moveTo>
                    <a:pt x="0" y="0"/>
                  </a:moveTo>
                  <a:lnTo>
                    <a:pt x="1577375" y="0"/>
                  </a:lnTo>
                  <a:lnTo>
                    <a:pt x="1577375" y="1577375"/>
                  </a:lnTo>
                  <a:lnTo>
                    <a:pt x="0" y="1577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7162" y="2254928"/>
              <a:ext cx="1026941" cy="1026941"/>
            </a:xfrm>
            <a:custGeom>
              <a:avLst/>
              <a:gdLst/>
              <a:ahLst/>
              <a:cxnLst/>
              <a:rect r="r" b="b" t="t" l="l"/>
              <a:pathLst>
                <a:path h="1026941" w="1026941">
                  <a:moveTo>
                    <a:pt x="0" y="0"/>
                  </a:moveTo>
                  <a:lnTo>
                    <a:pt x="1026941" y="0"/>
                  </a:lnTo>
                  <a:lnTo>
                    <a:pt x="1026941" y="1026941"/>
                  </a:lnTo>
                  <a:lnTo>
                    <a:pt x="0" y="1026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03527" y="3742589"/>
              <a:ext cx="1954210" cy="22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"/>
                </a:lnSpc>
              </a:pPr>
              <a:r>
                <a:rPr lang="en-US" sz="1017" spc="50">
                  <a:solidFill>
                    <a:srgbClr val="000000"/>
                  </a:solidFill>
                  <a:latin typeface="Saira"/>
                  <a:ea typeface="Saira"/>
                  <a:cs typeface="Saira"/>
                  <a:sym typeface="Saira"/>
                </a:rPr>
                <a:t>LLM open source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2718" y="3538036"/>
              <a:ext cx="2075827" cy="22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"/>
                </a:lnSpc>
              </a:pPr>
              <a:r>
                <a:rPr lang="en-US" b="true" sz="1017" spc="5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QWEN - 1.5b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2678693" y="1979711"/>
              <a:ext cx="1577375" cy="1577375"/>
            </a:xfrm>
            <a:custGeom>
              <a:avLst/>
              <a:gdLst/>
              <a:ahLst/>
              <a:cxnLst/>
              <a:rect r="r" b="b" t="t" l="l"/>
              <a:pathLst>
                <a:path h="1577375" w="1577375">
                  <a:moveTo>
                    <a:pt x="0" y="0"/>
                  </a:moveTo>
                  <a:lnTo>
                    <a:pt x="1577375" y="0"/>
                  </a:lnTo>
                  <a:lnTo>
                    <a:pt x="1577375" y="1577375"/>
                  </a:lnTo>
                  <a:lnTo>
                    <a:pt x="0" y="1577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953910" y="2254928"/>
              <a:ext cx="1026941" cy="1026941"/>
            </a:xfrm>
            <a:custGeom>
              <a:avLst/>
              <a:gdLst/>
              <a:ahLst/>
              <a:cxnLst/>
              <a:rect r="r" b="b" t="t" l="l"/>
              <a:pathLst>
                <a:path h="1026941" w="1026941">
                  <a:moveTo>
                    <a:pt x="0" y="0"/>
                  </a:moveTo>
                  <a:lnTo>
                    <a:pt x="1026941" y="0"/>
                  </a:lnTo>
                  <a:lnTo>
                    <a:pt x="1026941" y="1026941"/>
                  </a:lnTo>
                  <a:lnTo>
                    <a:pt x="0" y="1026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490276" y="3742589"/>
              <a:ext cx="1954210" cy="22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"/>
                </a:lnSpc>
              </a:pPr>
              <a:r>
                <a:rPr lang="en-US" sz="1017" spc="50">
                  <a:solidFill>
                    <a:srgbClr val="000000"/>
                  </a:solidFill>
                  <a:latin typeface="Saira"/>
                  <a:ea typeface="Saira"/>
                  <a:cs typeface="Saira"/>
                  <a:sym typeface="Saira"/>
                </a:rPr>
                <a:t>LLM open source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429467" y="3538036"/>
              <a:ext cx="2075827" cy="22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"/>
                </a:lnSpc>
              </a:pPr>
              <a:r>
                <a:rPr lang="en-US" b="true" sz="1017" spc="5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LLAMA - 8b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4965442" y="1979711"/>
              <a:ext cx="1577375" cy="1577375"/>
            </a:xfrm>
            <a:custGeom>
              <a:avLst/>
              <a:gdLst/>
              <a:ahLst/>
              <a:cxnLst/>
              <a:rect r="r" b="b" t="t" l="l"/>
              <a:pathLst>
                <a:path h="1577375" w="1577375">
                  <a:moveTo>
                    <a:pt x="0" y="0"/>
                  </a:moveTo>
                  <a:lnTo>
                    <a:pt x="1577375" y="0"/>
                  </a:lnTo>
                  <a:lnTo>
                    <a:pt x="1577375" y="1577375"/>
                  </a:lnTo>
                  <a:lnTo>
                    <a:pt x="0" y="1577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240659" y="2254928"/>
              <a:ext cx="1026941" cy="1026941"/>
            </a:xfrm>
            <a:custGeom>
              <a:avLst/>
              <a:gdLst/>
              <a:ahLst/>
              <a:cxnLst/>
              <a:rect r="r" b="b" t="t" l="l"/>
              <a:pathLst>
                <a:path h="1026941" w="1026941">
                  <a:moveTo>
                    <a:pt x="0" y="0"/>
                  </a:moveTo>
                  <a:lnTo>
                    <a:pt x="1026941" y="0"/>
                  </a:lnTo>
                  <a:lnTo>
                    <a:pt x="1026941" y="1026941"/>
                  </a:lnTo>
                  <a:lnTo>
                    <a:pt x="0" y="1026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4777025" y="3742589"/>
              <a:ext cx="1954210" cy="22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"/>
                </a:lnSpc>
              </a:pPr>
              <a:r>
                <a:rPr lang="en-US" sz="1017" spc="50">
                  <a:solidFill>
                    <a:srgbClr val="000000"/>
                  </a:solidFill>
                  <a:latin typeface="Saira"/>
                  <a:ea typeface="Saira"/>
                  <a:cs typeface="Saira"/>
                  <a:sym typeface="Saira"/>
                </a:rPr>
                <a:t>LLM open source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716216" y="3538036"/>
              <a:ext cx="2075827" cy="22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"/>
                </a:lnSpc>
              </a:pPr>
              <a:r>
                <a:rPr lang="en-US" b="true" sz="1017" spc="50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GEMMA - 9b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34762" cy="2130994"/>
            </a:xfrm>
            <a:custGeom>
              <a:avLst/>
              <a:gdLst/>
              <a:ahLst/>
              <a:cxnLst/>
              <a:rect r="r" b="b" t="t" l="l"/>
              <a:pathLst>
                <a:path h="2130994" w="6934762">
                  <a:moveTo>
                    <a:pt x="0" y="0"/>
                  </a:moveTo>
                  <a:lnTo>
                    <a:pt x="6934762" y="0"/>
                  </a:lnTo>
                  <a:lnTo>
                    <a:pt x="6934762" y="2130994"/>
                  </a:lnTo>
                  <a:lnTo>
                    <a:pt x="0" y="2130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07828" y="5810206"/>
            <a:ext cx="2936204" cy="3022515"/>
            <a:chOff x="0" y="0"/>
            <a:chExt cx="3914938" cy="40300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70032" y="286823"/>
              <a:ext cx="2974874" cy="2974874"/>
            </a:xfrm>
            <a:custGeom>
              <a:avLst/>
              <a:gdLst/>
              <a:ahLst/>
              <a:cxnLst/>
              <a:rect r="r" b="b" t="t" l="l"/>
              <a:pathLst>
                <a:path h="2974874" w="2974874">
                  <a:moveTo>
                    <a:pt x="0" y="0"/>
                  </a:moveTo>
                  <a:lnTo>
                    <a:pt x="2974874" y="0"/>
                  </a:lnTo>
                  <a:lnTo>
                    <a:pt x="2974874" y="2974874"/>
                  </a:lnTo>
                  <a:lnTo>
                    <a:pt x="0" y="297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68738" y="835169"/>
              <a:ext cx="1577462" cy="1889176"/>
            </a:xfrm>
            <a:custGeom>
              <a:avLst/>
              <a:gdLst/>
              <a:ahLst/>
              <a:cxnLst/>
              <a:rect r="r" b="b" t="t" l="l"/>
              <a:pathLst>
                <a:path h="1889176" w="1577462">
                  <a:moveTo>
                    <a:pt x="0" y="0"/>
                  </a:moveTo>
                  <a:lnTo>
                    <a:pt x="1577462" y="0"/>
                  </a:lnTo>
                  <a:lnTo>
                    <a:pt x="1577462" y="1889176"/>
                  </a:lnTo>
                  <a:lnTo>
                    <a:pt x="0" y="1889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14684" y="3606140"/>
              <a:ext cx="3685571" cy="42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sz="1918" spc="95">
                  <a:solidFill>
                    <a:srgbClr val="000000"/>
                  </a:solidFill>
                  <a:latin typeface="Saira"/>
                  <a:ea typeface="Saira"/>
                  <a:cs typeface="Saira"/>
                  <a:sym typeface="Saira"/>
                </a:rPr>
                <a:t>Database embeddings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223597"/>
              <a:ext cx="3914938" cy="42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85"/>
                </a:lnSpc>
              </a:pPr>
              <a:r>
                <a:rPr lang="en-US" b="true" sz="1918" spc="95">
                  <a:solidFill>
                    <a:srgbClr val="000000"/>
                  </a:solidFill>
                  <a:latin typeface="Saira Bold"/>
                  <a:ea typeface="Saira Bold"/>
                  <a:cs typeface="Saira Bold"/>
                  <a:sym typeface="Saira Bold"/>
                </a:rPr>
                <a:t>FAISS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295685" y="1427898"/>
              <a:ext cx="3323568" cy="1203387"/>
            </a:xfrm>
            <a:custGeom>
              <a:avLst/>
              <a:gdLst/>
              <a:ahLst/>
              <a:cxnLst/>
              <a:rect r="r" b="b" t="t" l="l"/>
              <a:pathLst>
                <a:path h="1203387" w="3323568">
                  <a:moveTo>
                    <a:pt x="0" y="0"/>
                  </a:moveTo>
                  <a:lnTo>
                    <a:pt x="3323568" y="0"/>
                  </a:lnTo>
                  <a:lnTo>
                    <a:pt x="3323568" y="1203386"/>
                  </a:lnTo>
                  <a:lnTo>
                    <a:pt x="0" y="1203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602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44706" y="-28575"/>
              <a:ext cx="3625527" cy="306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6"/>
                </a:lnSpc>
                <a:spcBef>
                  <a:spcPct val="0"/>
                </a:spcBef>
              </a:pPr>
              <a:r>
                <a:rPr lang="en-US" b="true" sz="1404" spc="70">
                  <a:solidFill>
                    <a:srgbClr val="2F74A3"/>
                  </a:solidFill>
                  <a:latin typeface="Saira Bold"/>
                  <a:ea typeface="Saira Bold"/>
                  <a:cs typeface="Saira Bold"/>
                  <a:sym typeface="Saira Bold"/>
                </a:rPr>
                <a:t>intfloat/multilingual-e5-base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94618" y="2783018"/>
            <a:ext cx="2752604" cy="3027187"/>
          </a:xfrm>
          <a:custGeom>
            <a:avLst/>
            <a:gdLst/>
            <a:ahLst/>
            <a:cxnLst/>
            <a:rect r="r" b="b" t="t" l="l"/>
            <a:pathLst>
              <a:path h="3027187" w="2752604">
                <a:moveTo>
                  <a:pt x="0" y="0"/>
                </a:moveTo>
                <a:lnTo>
                  <a:pt x="2752604" y="0"/>
                </a:lnTo>
                <a:lnTo>
                  <a:pt x="2752604" y="3027188"/>
                </a:lnTo>
                <a:lnTo>
                  <a:pt x="0" y="3027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441" t="0" r="-50348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987221" y="3290477"/>
            <a:ext cx="3577419" cy="1398445"/>
          </a:xfrm>
          <a:custGeom>
            <a:avLst/>
            <a:gdLst/>
            <a:ahLst/>
            <a:cxnLst/>
            <a:rect r="r" b="b" t="t" l="l"/>
            <a:pathLst>
              <a:path h="1398445" w="3577419">
                <a:moveTo>
                  <a:pt x="0" y="0"/>
                </a:moveTo>
                <a:lnTo>
                  <a:pt x="3577419" y="0"/>
                </a:lnTo>
                <a:lnTo>
                  <a:pt x="3577419" y="1398446"/>
                </a:lnTo>
                <a:lnTo>
                  <a:pt x="0" y="13984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06793" y="7037332"/>
            <a:ext cx="3728254" cy="842808"/>
          </a:xfrm>
          <a:custGeom>
            <a:avLst/>
            <a:gdLst/>
            <a:ahLst/>
            <a:cxnLst/>
            <a:rect r="r" b="b" t="t" l="l"/>
            <a:pathLst>
              <a:path h="842808" w="3728254">
                <a:moveTo>
                  <a:pt x="0" y="0"/>
                </a:moveTo>
                <a:lnTo>
                  <a:pt x="3728254" y="0"/>
                </a:lnTo>
                <a:lnTo>
                  <a:pt x="3728254" y="842808"/>
                </a:lnTo>
                <a:lnTo>
                  <a:pt x="0" y="8428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816" t="-69059" r="-11518" b="-11295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07869" y="6582717"/>
            <a:ext cx="3983361" cy="2050574"/>
          </a:xfrm>
          <a:custGeom>
            <a:avLst/>
            <a:gdLst/>
            <a:ahLst/>
            <a:cxnLst/>
            <a:rect r="r" b="b" t="t" l="l"/>
            <a:pathLst>
              <a:path h="2050574" w="3983361">
                <a:moveTo>
                  <a:pt x="0" y="0"/>
                </a:moveTo>
                <a:lnTo>
                  <a:pt x="3983361" y="0"/>
                </a:lnTo>
                <a:lnTo>
                  <a:pt x="3983361" y="2050575"/>
                </a:lnTo>
                <a:lnTo>
                  <a:pt x="0" y="2050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Strumenti utilizzati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43491" y="2834780"/>
            <a:ext cx="3720641" cy="1544066"/>
          </a:xfrm>
          <a:custGeom>
            <a:avLst/>
            <a:gdLst/>
            <a:ahLst/>
            <a:cxnLst/>
            <a:rect r="r" b="b" t="t" l="l"/>
            <a:pathLst>
              <a:path h="1544066" w="3720641">
                <a:moveTo>
                  <a:pt x="0" y="0"/>
                </a:moveTo>
                <a:lnTo>
                  <a:pt x="3720641" y="0"/>
                </a:lnTo>
                <a:lnTo>
                  <a:pt x="3720641" y="1544066"/>
                </a:lnTo>
                <a:lnTo>
                  <a:pt x="0" y="154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07421" y="4785859"/>
            <a:ext cx="3720641" cy="1544066"/>
          </a:xfrm>
          <a:custGeom>
            <a:avLst/>
            <a:gdLst/>
            <a:ahLst/>
            <a:cxnLst/>
            <a:rect r="r" b="b" t="t" l="l"/>
            <a:pathLst>
              <a:path h="1544066" w="3720641">
                <a:moveTo>
                  <a:pt x="0" y="0"/>
                </a:moveTo>
                <a:lnTo>
                  <a:pt x="3720642" y="0"/>
                </a:lnTo>
                <a:lnTo>
                  <a:pt x="3720642" y="1544066"/>
                </a:lnTo>
                <a:lnTo>
                  <a:pt x="0" y="154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01741" y="6728750"/>
            <a:ext cx="3720641" cy="1544066"/>
          </a:xfrm>
          <a:custGeom>
            <a:avLst/>
            <a:gdLst/>
            <a:ahLst/>
            <a:cxnLst/>
            <a:rect r="r" b="b" t="t" l="l"/>
            <a:pathLst>
              <a:path h="1544066" w="3720641">
                <a:moveTo>
                  <a:pt x="0" y="0"/>
                </a:moveTo>
                <a:lnTo>
                  <a:pt x="3720641" y="0"/>
                </a:lnTo>
                <a:lnTo>
                  <a:pt x="3720641" y="1544066"/>
                </a:lnTo>
                <a:lnTo>
                  <a:pt x="0" y="154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8340331">
            <a:off x="4585239" y="4762462"/>
            <a:ext cx="2416945" cy="1280981"/>
          </a:xfrm>
          <a:custGeom>
            <a:avLst/>
            <a:gdLst/>
            <a:ahLst/>
            <a:cxnLst/>
            <a:rect r="r" b="b" t="t" l="l"/>
            <a:pathLst>
              <a:path h="1280981" w="2416945">
                <a:moveTo>
                  <a:pt x="2416945" y="0"/>
                </a:moveTo>
                <a:lnTo>
                  <a:pt x="0" y="0"/>
                </a:lnTo>
                <a:lnTo>
                  <a:pt x="0" y="1280981"/>
                </a:lnTo>
                <a:lnTo>
                  <a:pt x="2416945" y="1280981"/>
                </a:lnTo>
                <a:lnTo>
                  <a:pt x="24169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1/5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5449" y="3158814"/>
            <a:ext cx="3616725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b="true" sz="248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INSERIMENTO URL VIDEO YouTube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17039" y="4893915"/>
            <a:ext cx="3501406" cy="128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8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RECUPERO ID, TITOLO E TRASCRIZIONE DEL VIDEO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1358" y="6836805"/>
            <a:ext cx="3501406" cy="128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8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TOKENIZZATION PER LA COSTRUZIONE DELLE FRASI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-8340331">
            <a:off x="9658780" y="6656135"/>
            <a:ext cx="2416945" cy="1280981"/>
          </a:xfrm>
          <a:custGeom>
            <a:avLst/>
            <a:gdLst/>
            <a:ahLst/>
            <a:cxnLst/>
            <a:rect r="r" b="b" t="t" l="l"/>
            <a:pathLst>
              <a:path h="1280981" w="2416945">
                <a:moveTo>
                  <a:pt x="2416945" y="0"/>
                </a:moveTo>
                <a:lnTo>
                  <a:pt x="0" y="0"/>
                </a:lnTo>
                <a:lnTo>
                  <a:pt x="0" y="1280981"/>
                </a:lnTo>
                <a:lnTo>
                  <a:pt x="2416945" y="1280981"/>
                </a:lnTo>
                <a:lnTo>
                  <a:pt x="24169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24634" y="6882801"/>
            <a:ext cx="10833723" cy="373090"/>
          </a:xfrm>
          <a:custGeom>
            <a:avLst/>
            <a:gdLst/>
            <a:ahLst/>
            <a:cxnLst/>
            <a:rect r="r" b="b" t="t" l="l"/>
            <a:pathLst>
              <a:path h="373090" w="10833723">
                <a:moveTo>
                  <a:pt x="0" y="0"/>
                </a:moveTo>
                <a:lnTo>
                  <a:pt x="10833723" y="0"/>
                </a:lnTo>
                <a:lnTo>
                  <a:pt x="10833723" y="373090"/>
                </a:lnTo>
                <a:lnTo>
                  <a:pt x="0" y="37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8160" r="0" b="-25615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85542" y="4616021"/>
            <a:ext cx="9516916" cy="3858209"/>
          </a:xfrm>
          <a:custGeom>
            <a:avLst/>
            <a:gdLst/>
            <a:ahLst/>
            <a:cxnLst/>
            <a:rect r="r" b="b" t="t" l="l"/>
            <a:pathLst>
              <a:path h="3858209" w="9516916">
                <a:moveTo>
                  <a:pt x="0" y="0"/>
                </a:moveTo>
                <a:lnTo>
                  <a:pt x="9516916" y="0"/>
                </a:lnTo>
                <a:lnTo>
                  <a:pt x="9516916" y="3858209"/>
                </a:lnTo>
                <a:lnTo>
                  <a:pt x="0" y="3858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2/5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Chunking Semantico Dinamico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Ogni chunk deve contenere in media 6-10 frasi </a:t>
            </a: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[1]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335" y="3368246"/>
            <a:ext cx="16725331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METODO UTILIZZATO: </a:t>
            </a: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Sono stati effettuati test per trovare il valore di similarity threshold adeguato all’obiettivo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43425" y="9638213"/>
            <a:ext cx="1002315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70" u="sng">
                <a:solidFill>
                  <a:srgbClr val="2C2B2B"/>
                </a:solidFill>
                <a:latin typeface="Saira Bold"/>
                <a:ea typeface="Saira Bold"/>
                <a:cs typeface="Saira Bold"/>
                <a:sym typeface="Saira Bold"/>
              </a:rPr>
              <a:t>[1]</a:t>
            </a:r>
            <a:r>
              <a:rPr lang="en-US" sz="1400" spc="70" u="sng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 https://arize.com/blog-course/evaluation-of-llm-rag-chunking-strategy/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335" y="8654621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CONCLUSIONE</a:t>
            </a: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Soglia similarity threshold individuata è la 0.78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099396"/>
            <a:ext cx="14652703" cy="326777"/>
          </a:xfrm>
          <a:custGeom>
            <a:avLst/>
            <a:gdLst/>
            <a:ahLst/>
            <a:cxnLst/>
            <a:rect r="r" b="b" t="t" l="l"/>
            <a:pathLst>
              <a:path h="326777" w="14652703">
                <a:moveTo>
                  <a:pt x="0" y="0"/>
                </a:moveTo>
                <a:lnTo>
                  <a:pt x="14652703" y="0"/>
                </a:lnTo>
                <a:lnTo>
                  <a:pt x="14652703" y="326777"/>
                </a:lnTo>
                <a:lnTo>
                  <a:pt x="0" y="326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43473" y="4240085"/>
            <a:ext cx="9883123" cy="3974216"/>
          </a:xfrm>
          <a:custGeom>
            <a:avLst/>
            <a:gdLst/>
            <a:ahLst/>
            <a:cxnLst/>
            <a:rect r="r" b="b" t="t" l="l"/>
            <a:pathLst>
              <a:path h="3974216" w="9883123">
                <a:moveTo>
                  <a:pt x="0" y="0"/>
                </a:moveTo>
                <a:lnTo>
                  <a:pt x="9883123" y="0"/>
                </a:lnTo>
                <a:lnTo>
                  <a:pt x="9883123" y="3974216"/>
                </a:lnTo>
                <a:lnTo>
                  <a:pt x="0" y="397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2/5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Chunking Semantico Dinamico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3473" y="3702170"/>
            <a:ext cx="1002315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2C2B2B"/>
                </a:solidFill>
                <a:latin typeface="Saira Bold"/>
                <a:ea typeface="Saira Bold"/>
                <a:cs typeface="Saira Bold"/>
                <a:sym typeface="Saira Bold"/>
              </a:rPr>
              <a:t>[ ... 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3473" y="8490526"/>
            <a:ext cx="1002315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2C2B2B"/>
                </a:solidFill>
                <a:latin typeface="Saira Bold"/>
                <a:ea typeface="Saira Bold"/>
                <a:cs typeface="Saira Bold"/>
                <a:sym typeface="Saira Bold"/>
              </a:rPr>
              <a:t>[ ... 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1335" y="4643776"/>
            <a:ext cx="14529398" cy="257365"/>
          </a:xfrm>
          <a:custGeom>
            <a:avLst/>
            <a:gdLst/>
            <a:ahLst/>
            <a:cxnLst/>
            <a:rect r="r" b="b" t="t" l="l"/>
            <a:pathLst>
              <a:path h="257365" w="14529398">
                <a:moveTo>
                  <a:pt x="0" y="0"/>
                </a:moveTo>
                <a:lnTo>
                  <a:pt x="14529397" y="0"/>
                </a:lnTo>
                <a:lnTo>
                  <a:pt x="14529397" y="257364"/>
                </a:lnTo>
                <a:lnTo>
                  <a:pt x="0" y="257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91679" y="5522595"/>
            <a:ext cx="11701797" cy="3404159"/>
          </a:xfrm>
          <a:custGeom>
            <a:avLst/>
            <a:gdLst/>
            <a:ahLst/>
            <a:cxnLst/>
            <a:rect r="r" b="b" t="t" l="l"/>
            <a:pathLst>
              <a:path h="3404159" w="11701797">
                <a:moveTo>
                  <a:pt x="0" y="0"/>
                </a:moveTo>
                <a:lnTo>
                  <a:pt x="11701797" y="0"/>
                </a:lnTo>
                <a:lnTo>
                  <a:pt x="11701797" y="3404159"/>
                </a:lnTo>
                <a:lnTo>
                  <a:pt x="0" y="3404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3/5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R</a:t>
            </a: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ecupero dinamico dei chunk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Recupero dei chunks rilevanti alla domanda sottomessa dall’utente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335" y="3368246"/>
            <a:ext cx="16725331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METODO UTILIZZATO: </a:t>
            </a: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Sono stati effettuati test empirici per rilevare il valore adeguato all’obiettivo (RETRIEVAL_DISTANCE_THRESHOLD)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1679" y="4993005"/>
            <a:ext cx="1002315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2C2B2B"/>
                </a:solidFill>
                <a:latin typeface="Saira Bold"/>
                <a:ea typeface="Saira Bold"/>
                <a:cs typeface="Saira Bold"/>
                <a:sym typeface="Saira Bold"/>
              </a:rPr>
              <a:t>[ ... 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6188" y="4808104"/>
            <a:ext cx="16515624" cy="3917844"/>
          </a:xfrm>
          <a:custGeom>
            <a:avLst/>
            <a:gdLst/>
            <a:ahLst/>
            <a:cxnLst/>
            <a:rect r="r" b="b" t="t" l="l"/>
            <a:pathLst>
              <a:path h="3917844" w="16515624">
                <a:moveTo>
                  <a:pt x="0" y="0"/>
                </a:moveTo>
                <a:lnTo>
                  <a:pt x="16515624" y="0"/>
                </a:lnTo>
                <a:lnTo>
                  <a:pt x="16515624" y="3917843"/>
                </a:lnTo>
                <a:lnTo>
                  <a:pt x="0" y="3917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4/5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Chatbot con LLM locale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Ottenere correttamente una risposta sulla base del contenuto del video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35" y="3368246"/>
            <a:ext cx="16725331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METODO UTILIZZATO: </a:t>
            </a: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(1) costruzione di un prompt adeguato per le due modalità di chat previste (classica / socratica)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87739" y="4092146"/>
            <a:ext cx="11912522" cy="5197764"/>
          </a:xfrm>
          <a:custGeom>
            <a:avLst/>
            <a:gdLst/>
            <a:ahLst/>
            <a:cxnLst/>
            <a:rect r="r" b="b" t="t" l="l"/>
            <a:pathLst>
              <a:path h="5197764" w="11912522">
                <a:moveTo>
                  <a:pt x="0" y="0"/>
                </a:moveTo>
                <a:lnTo>
                  <a:pt x="11912522" y="0"/>
                </a:lnTo>
                <a:lnTo>
                  <a:pt x="11912522" y="5197764"/>
                </a:lnTo>
                <a:lnTo>
                  <a:pt x="0" y="5197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4/5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Chatbot con LLM locale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Ottenere correttamente una risposta sulla base del contenuto del video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35" y="3368246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METODO UTILIZZATO: </a:t>
            </a: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(2) instaurazione della connessione con il LLM locale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5/5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Valutazione con metriche RAGAS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Valutare la coerenza delle risposte del LLM in base alla query dell’utente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35" y="3593103"/>
            <a:ext cx="16725331" cy="36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METODO UTILIZZATO: </a:t>
            </a: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Valutazione tramite metriche RAGAS della faithfullness e answer relevancy della risposta del LLM. </a:t>
            </a:r>
          </a:p>
          <a:p>
            <a:pPr algn="just">
              <a:lnSpc>
                <a:spcPts val="4199"/>
              </a:lnSpc>
            </a:pP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Ad ogni video oggetto del test sono state sottomesse tre categorie di domande:</a:t>
            </a:r>
          </a:p>
          <a:p>
            <a:pPr algn="just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DOMANDE PERTINENTI</a:t>
            </a: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DOMANDE DEL CONTESTO MA NON PERTINENTI</a:t>
            </a: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 spc="14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DOMANDE NON PERTINENTI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1335" y="7635372"/>
            <a:ext cx="16725331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LLM-as-JUDGE</a:t>
            </a: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Il valutatore RAGAS per ogni domanda sottoposta ad ogni LLM utilizzato è “meta-llama-3.1-8b-instruct”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2893" y="3340830"/>
            <a:ext cx="7934556" cy="5917470"/>
          </a:xfrm>
          <a:custGeom>
            <a:avLst/>
            <a:gdLst/>
            <a:ahLst/>
            <a:cxnLst/>
            <a:rect r="r" b="b" t="t" l="l"/>
            <a:pathLst>
              <a:path h="5917470" w="7934556">
                <a:moveTo>
                  <a:pt x="0" y="0"/>
                </a:moveTo>
                <a:lnTo>
                  <a:pt x="7934556" y="0"/>
                </a:lnTo>
                <a:lnTo>
                  <a:pt x="7934556" y="5917470"/>
                </a:lnTo>
                <a:lnTo>
                  <a:pt x="0" y="5917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91293" y="3640787"/>
            <a:ext cx="9096707" cy="5499688"/>
          </a:xfrm>
          <a:custGeom>
            <a:avLst/>
            <a:gdLst/>
            <a:ahLst/>
            <a:cxnLst/>
            <a:rect r="r" b="b" t="t" l="l"/>
            <a:pathLst>
              <a:path h="5499688" w="9096707">
                <a:moveTo>
                  <a:pt x="0" y="0"/>
                </a:moveTo>
                <a:lnTo>
                  <a:pt x="9096707" y="0"/>
                </a:lnTo>
                <a:lnTo>
                  <a:pt x="9096707" y="5499689"/>
                </a:lnTo>
                <a:lnTo>
                  <a:pt x="0" y="5499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56022" y="3468839"/>
            <a:ext cx="58436" cy="5843584"/>
          </a:xfrm>
          <a:custGeom>
            <a:avLst/>
            <a:gdLst/>
            <a:ahLst/>
            <a:cxnLst/>
            <a:rect r="r" b="b" t="t" l="l"/>
            <a:pathLst>
              <a:path h="5843584" w="58436">
                <a:moveTo>
                  <a:pt x="0" y="0"/>
                </a:moveTo>
                <a:lnTo>
                  <a:pt x="58436" y="0"/>
                </a:lnTo>
                <a:lnTo>
                  <a:pt x="58436" y="5843584"/>
                </a:lnTo>
                <a:lnTo>
                  <a:pt x="0" y="5843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2F74A3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5/5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Valutazione con metriche RAGAS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Valutare la coerenza delle risposte del LLM in base alla query dell’utente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93673" y="3456085"/>
            <a:ext cx="14590082" cy="5741606"/>
          </a:xfrm>
          <a:custGeom>
            <a:avLst/>
            <a:gdLst/>
            <a:ahLst/>
            <a:cxnLst/>
            <a:rect r="r" b="b" t="t" l="l"/>
            <a:pathLst>
              <a:path h="5741606" w="14590082">
                <a:moveTo>
                  <a:pt x="0" y="0"/>
                </a:moveTo>
                <a:lnTo>
                  <a:pt x="14590082" y="0"/>
                </a:lnTo>
                <a:lnTo>
                  <a:pt x="14590082" y="5741606"/>
                </a:lnTo>
                <a:lnTo>
                  <a:pt x="0" y="5741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2" t="0" r="0" b="-105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Pipeline 5/5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4000" y="1945423"/>
            <a:ext cx="1022000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i="true">
                <a:solidFill>
                  <a:srgbClr val="2F74A3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Valutazione con metriche RAGAS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35" y="2694084"/>
            <a:ext cx="167253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49" strike="noStrike" u="non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OBIETTIVO:</a:t>
            </a:r>
            <a:r>
              <a:rPr lang="en-US" sz="2999" spc="149" strike="noStrike" u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Valutare la coerenza delle risposte del LLM in base alla query dell’utente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2178" y="9666788"/>
            <a:ext cx="3086100" cy="181023"/>
            <a:chOff x="0" y="0"/>
            <a:chExt cx="812800" cy="47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677"/>
            </a:xfrm>
            <a:custGeom>
              <a:avLst/>
              <a:gdLst/>
              <a:ahLst/>
              <a:cxnLst/>
              <a:rect r="r" b="b" t="t" l="l"/>
              <a:pathLst>
                <a:path h="4767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677"/>
                  </a:lnTo>
                  <a:lnTo>
                    <a:pt x="0" y="47677"/>
                  </a:lnTo>
                  <a:close/>
                </a:path>
              </a:pathLst>
            </a:custGeom>
            <a:solidFill>
              <a:srgbClr val="2F74A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95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79633" y="2571168"/>
            <a:ext cx="8950287" cy="5258964"/>
          </a:xfrm>
          <a:custGeom>
            <a:avLst/>
            <a:gdLst/>
            <a:ahLst/>
            <a:cxnLst/>
            <a:rect r="r" b="b" t="t" l="l"/>
            <a:pathLst>
              <a:path h="5258964" w="8950287">
                <a:moveTo>
                  <a:pt x="0" y="0"/>
                </a:moveTo>
                <a:lnTo>
                  <a:pt x="8950287" y="0"/>
                </a:lnTo>
                <a:lnTo>
                  <a:pt x="8950287" y="5258964"/>
                </a:lnTo>
                <a:lnTo>
                  <a:pt x="0" y="5258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89" t="0" r="-1444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46442" y="2305914"/>
            <a:ext cx="9395116" cy="6952386"/>
          </a:xfrm>
          <a:custGeom>
            <a:avLst/>
            <a:gdLst/>
            <a:ahLst/>
            <a:cxnLst/>
            <a:rect r="r" b="b" t="t" l="l"/>
            <a:pathLst>
              <a:path h="6952386" w="9395116">
                <a:moveTo>
                  <a:pt x="0" y="0"/>
                </a:moveTo>
                <a:lnTo>
                  <a:pt x="9395116" y="0"/>
                </a:lnTo>
                <a:lnTo>
                  <a:pt x="9395116" y="6952386"/>
                </a:lnTo>
                <a:lnTo>
                  <a:pt x="0" y="69523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4404" y="9544253"/>
            <a:ext cx="10023156" cy="37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>
                <a:solidFill>
                  <a:srgbClr val="2C2B2B"/>
                </a:solidFill>
                <a:latin typeface="Saira Light"/>
                <a:ea typeface="Saira Light"/>
                <a:cs typeface="Saira Light"/>
                <a:sym typeface="Saira Light"/>
              </a:rPr>
              <a:t>Interrogazione di contenuti video tramite sistema 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03812" y="583348"/>
            <a:ext cx="968037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2F74A3"/>
                </a:solidFill>
                <a:latin typeface="Gotham Bold"/>
                <a:ea typeface="Gotham Bold"/>
                <a:cs typeface="Gotham Bold"/>
                <a:sym typeface="Gotham Bold"/>
              </a:rPr>
              <a:t>Interfaccia Utente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74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7638" y="2375308"/>
            <a:ext cx="12750141" cy="296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60"/>
              </a:lnSpc>
            </a:pPr>
            <a:r>
              <a:rPr lang="en-US" b="true" sz="11247">
                <a:solidFill>
                  <a:srgbClr val="E7EDED"/>
                </a:solidFill>
                <a:latin typeface="Gotham Bold"/>
                <a:ea typeface="Gotham Bold"/>
                <a:cs typeface="Gotham Bold"/>
                <a:sym typeface="Gotham Bold"/>
              </a:rPr>
              <a:t>Grazie per l’attenzione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59589" y="1410626"/>
            <a:ext cx="10855667" cy="7898705"/>
            <a:chOff x="0" y="0"/>
            <a:chExt cx="14474223" cy="10531607"/>
          </a:xfrm>
        </p:grpSpPr>
        <p:sp>
          <p:nvSpPr>
            <p:cNvPr name="Freeform 4" id="4"/>
            <p:cNvSpPr/>
            <p:nvPr/>
          </p:nvSpPr>
          <p:spPr>
            <a:xfrm flipH="false" flipV="false" rot="192863">
              <a:off x="1946102" y="517787"/>
              <a:ext cx="12180163" cy="8266986"/>
            </a:xfrm>
            <a:custGeom>
              <a:avLst/>
              <a:gdLst/>
              <a:ahLst/>
              <a:cxnLst/>
              <a:rect r="r" b="b" t="t" l="l"/>
              <a:pathLst>
                <a:path h="8266986" w="12180163">
                  <a:moveTo>
                    <a:pt x="0" y="0"/>
                  </a:moveTo>
                  <a:lnTo>
                    <a:pt x="12180162" y="0"/>
                  </a:lnTo>
                  <a:lnTo>
                    <a:pt x="12180162" y="8266985"/>
                  </a:lnTo>
                  <a:lnTo>
                    <a:pt x="0" y="8266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983" t="0" r="-24186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159487">
              <a:off x="221819" y="320023"/>
              <a:ext cx="14030584" cy="9891562"/>
            </a:xfrm>
            <a:custGeom>
              <a:avLst/>
              <a:gdLst/>
              <a:ahLst/>
              <a:cxnLst/>
              <a:rect r="r" b="b" t="t" l="l"/>
              <a:pathLst>
                <a:path h="9891562" w="14030584">
                  <a:moveTo>
                    <a:pt x="0" y="0"/>
                  </a:moveTo>
                  <a:lnTo>
                    <a:pt x="14030585" y="0"/>
                  </a:lnTo>
                  <a:lnTo>
                    <a:pt x="14030585" y="9891561"/>
                  </a:lnTo>
                  <a:lnTo>
                    <a:pt x="0" y="9891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8440223"/>
            <a:ext cx="3661918" cy="1359487"/>
          </a:xfrm>
          <a:custGeom>
            <a:avLst/>
            <a:gdLst/>
            <a:ahLst/>
            <a:cxnLst/>
            <a:rect r="r" b="b" t="t" l="l"/>
            <a:pathLst>
              <a:path h="1359487" w="3661918">
                <a:moveTo>
                  <a:pt x="0" y="0"/>
                </a:moveTo>
                <a:lnTo>
                  <a:pt x="3661918" y="0"/>
                </a:lnTo>
                <a:lnTo>
                  <a:pt x="3661918" y="1359487"/>
                </a:lnTo>
                <a:lnTo>
                  <a:pt x="0" y="135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7638" y="9580698"/>
            <a:ext cx="12372400" cy="3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  <a:spcBef>
                <a:spcPct val="0"/>
              </a:spcBef>
            </a:pPr>
            <a:r>
              <a:rPr lang="en-US" sz="2255" spc="112" u="sng">
                <a:solidFill>
                  <a:srgbClr val="E7EDED"/>
                </a:solidFill>
                <a:latin typeface="Saira Light"/>
                <a:ea typeface="Saira Light"/>
                <a:cs typeface="Saira Light"/>
                <a:sym typeface="Saira Light"/>
                <a:hlinkClick r:id="rId5" tooltip="https://github.com/Sabix10/Interrogazione_di_contenuti_video_tramite_sistema_RAG"/>
              </a:rPr>
              <a:t>https://github.com/Sabix10/Interrogazione_di_contenuti_video_tramite_sistema_RAG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638" y="5281342"/>
            <a:ext cx="12035795" cy="94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135">
                <a:solidFill>
                  <a:srgbClr val="E7EDED"/>
                </a:solidFill>
                <a:latin typeface="Saira Light"/>
                <a:ea typeface="Saira Light"/>
                <a:cs typeface="Saira Light"/>
                <a:sym typeface="Saira Light"/>
              </a:rPr>
              <a:t>Antonio Di Lauro - 0522501940</a:t>
            </a:r>
          </a:p>
          <a:p>
            <a:pPr algn="l" marL="0" indent="0" lvl="0">
              <a:lnSpc>
                <a:spcPts val="3790"/>
              </a:lnSpc>
              <a:spcBef>
                <a:spcPct val="0"/>
              </a:spcBef>
            </a:pPr>
            <a:r>
              <a:rPr lang="en-US" sz="2707" spc="135">
                <a:solidFill>
                  <a:srgbClr val="E7EDED"/>
                </a:solidFill>
                <a:latin typeface="Saira Light"/>
                <a:ea typeface="Saira Light"/>
                <a:cs typeface="Saira Light"/>
                <a:sym typeface="Saira Light"/>
              </a:rPr>
              <a:t>Sabato Malafronte - 0522501833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DAHPFWRuzoY</dc:identifier>
  <dcterms:modified xsi:type="dcterms:W3CDTF">2011-08-01T06:04:30Z</dcterms:modified>
  <cp:revision>1</cp:revision>
  <dc:title>Presentazione progetto NLP</dc:title>
</cp:coreProperties>
</file>